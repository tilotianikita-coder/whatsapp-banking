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B3B6"/>
                </a:solidFill>
                <a:latin typeface="Calibri"/>
              </a:rPr>
              <a:t>KOTAK MAHINDRA BANK  ×  SALESFORCE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From a WhatsApp bot to a banker in every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6E2F0"/>
                </a:solidFill>
                <a:latin typeface="Calibri"/>
              </a:rPr>
              <a:t>Why Salesforce for conversational AI on WhatsApp, and why running it natively is the simplest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7899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B3B6"/>
                </a:solidFill>
                <a:latin typeface="Calibri"/>
              </a:rPr>
              <a:t>The ask in one line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Run the loan journey natively on Salesforce: WhatsApp channel, AI agent and LOS on one platform, where the customer, the loan and the RM already are. Least to build, one vendor.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D1C24"/>
                </a:solidFill>
                <a:latin typeface="Calibri"/>
              </a:rPr>
              <a:t>THE CHALLENGE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3874"/>
                </a:solidFill>
                <a:latin typeface="Calibri"/>
              </a:rPr>
              <a:t>Today the WhatsApp bot talks, but it doesn't know the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LoanSeva by Kotak · WhatsApp Banking on 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611880" cy="21031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3874"/>
                </a:solidFill>
                <a:latin typeface="Calibri"/>
              </a:rPr>
              <a:t>No customer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67128"/>
            <a:ext cx="3246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The bot sees a phone number, not a relationship: existing loans, EMI track, pre-approved offers, open applications and past conversations sit in other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611880" cy="21031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691640"/>
            <a:ext cx="64008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73352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3874"/>
                </a:solidFill>
                <a:latin typeface="Calibri"/>
              </a:rPr>
              <a:t>Scripted menus, not conversations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67128"/>
            <a:ext cx="3246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Decision trees break on free text, Hinglish, voice notes or a question asked mid-journey ("what's the EMI on 3 lakh?"). Customers drop out or ask for an agent.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611880" cy="21031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64008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73352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3874"/>
                </a:solidFill>
                <a:latin typeface="Calibri"/>
              </a:rPr>
              <a:t>Hand-off loses the thread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67128"/>
            <a:ext cx="3246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When a human takes over, they start from zero: no journey state, no offer, no documents. The customer repeats themselves.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94760"/>
            <a:ext cx="3611880" cy="21031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77640"/>
            <a:ext cx="64008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59352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3874"/>
                </a:solidFill>
                <a:latin typeface="Calibri"/>
              </a:rPr>
              <a:t>Journeys end in a lead, not a loan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53128"/>
            <a:ext cx="3246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Answers aren't written into the LOS. Underwriting, RM callback and sanction happen in separate tools, re-keyed by hand.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794760"/>
            <a:ext cx="3611880" cy="21031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977640"/>
            <a:ext cx="64008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59352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3874"/>
                </a:solidFill>
                <a:latin typeface="Calibri"/>
              </a:rPr>
              <a:t>Drop-offs go cold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53128"/>
            <a:ext cx="3246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A customer who stops at step 4 isn't followed up. There's no RM task, no nudge and no record of where or why they stopped.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94760"/>
            <a:ext cx="3611880" cy="21031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977640"/>
            <a:ext cx="64008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959352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3874"/>
                </a:solidFill>
                <a:latin typeface="Calibri"/>
              </a:rPr>
              <a:t>Fragmented view and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453128"/>
            <a:ext cx="3246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Bot analytics, CRM and LOS reports don't join up. Prompts, consent, PII masking and audit are handled differently in each tool.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0533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D1C24"/>
                </a:solidFill>
                <a:latin typeface="Calibri"/>
              </a:rPr>
              <a:t>The gap is not the WhatsApp channel. Gupshup delivers messages well. The gap is context, intelligence and the link into the loan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D1C24"/>
                </a:solidFill>
                <a:latin typeface="Calibri"/>
              </a:rPr>
              <a:t>CURRENT-STATE ARCHITECTURE (AS UNDERSTOOD; TO VALIDATE WITH KOTAK)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3874"/>
                </a:solidFill>
                <a:latin typeface="Calibri"/>
              </a:rPr>
              <a:t>Current state: the channel and the bank are separate islands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LoanSeva by Kotak · WhatsApp Banking on 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1463040" cy="1005840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1F2328"/>
                </a:solidFill>
                <a:latin typeface="Calibri"/>
              </a:rPr>
              <a:t>Customer</a:t>
            </a:r>
          </a:p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WhatsApp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926080"/>
            <a:ext cx="13716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1F2328"/>
                </a:solidFill>
                <a:latin typeface="Calibri"/>
              </a:rPr>
              <a:t>Meta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WhatsApp Business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508760"/>
            <a:ext cx="3108960" cy="3931920"/>
          </a:xfrm>
          <a:prstGeom prst="roundRect">
            <a:avLst>
              <a:gd name="adj" fmla="val 4000"/>
            </a:avLst>
          </a:prstGeom>
          <a:solidFill>
            <a:srgbClr val="FEF3E2"/>
          </a:solidFill>
          <a:ln w="15875">
            <a:solidFill>
              <a:srgbClr val="E09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563624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5B00"/>
                </a:solidFill>
                <a:latin typeface="Calibri"/>
              </a:rPr>
              <a:t>GUPSHUP (BSP + BOT)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2024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>Message API &amp; templates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Delivery, opt-in, campaigns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78892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>Bot builder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Menus, keyword flows, FAQ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65760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>Agent inbox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Separate console for live chat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52628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>Bot analytics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Sessions, clicks, drop-offs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931920" cy="3931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587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563624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6368"/>
                </a:solidFill>
                <a:latin typeface="Calibri"/>
              </a:rPr>
              <a:t>BANK SYSTEMS (EACH ITS OWN SILO)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20240"/>
            <a:ext cx="34747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>Core banking / loan servicing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Existing loans, EMIs, track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788920"/>
            <a:ext cx="34747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>LOS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Applications, underwriting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657600"/>
            <a:ext cx="34747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>CRM / RM tools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Leads, tasks, callbacks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4526280"/>
            <a:ext cx="34747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>Bureau · KYC · Perfios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Called from the LOS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20240" y="3429000"/>
            <a:ext cx="411480" cy="0"/>
          </a:xfrm>
          <a:prstGeom prst="line">
            <a:avLst/>
          </a:prstGeom>
          <a:ln w="19050">
            <a:solidFill>
              <a:srgbClr val="5F636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703320" y="3154680"/>
            <a:ext cx="640080" cy="274320"/>
          </a:xfrm>
          <a:prstGeom prst="line">
            <a:avLst/>
          </a:prstGeom>
          <a:ln w="19050">
            <a:solidFill>
              <a:srgbClr val="5F636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995160" y="2286000"/>
            <a:ext cx="1005840" cy="868680"/>
          </a:xfrm>
          <a:prstGeom prst="line">
            <a:avLst/>
          </a:prstGeom>
          <a:ln w="19050">
            <a:solidFill>
              <a:srgbClr val="ED1C2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95160" y="4023360"/>
            <a:ext cx="1005840" cy="0"/>
          </a:xfrm>
          <a:prstGeom prst="line">
            <a:avLst/>
          </a:prstGeom>
          <a:ln w="19050">
            <a:solidFill>
              <a:srgbClr val="ED1C2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03720" y="544068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D1C24"/>
                </a:solidFill>
                <a:latin typeface="Calibri"/>
              </a:rPr>
              <a:t>Dashed red: point-to-point API calls or CSV exports, built per use case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85216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B01018"/>
                </a:solidFill>
                <a:latin typeface="Calibri"/>
              </a:rPr>
              <a:t>Bot can't see the loan, offer or journey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585216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B01018"/>
                </a:solidFill>
                <a:latin typeface="Calibri"/>
              </a:rPr>
              <a:t>Live agent starts with no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585216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B01018"/>
                </a:solidFill>
                <a:latin typeface="Calibri"/>
              </a:rPr>
              <a:t>Answers re-keyed into the LOS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585216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B01018"/>
                </a:solidFill>
                <a:latin typeface="Calibri"/>
              </a:rPr>
              <a:t>No single view of a drop-off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D1C24"/>
                </a:solidFill>
                <a:latin typeface="Calibri"/>
              </a:rPr>
              <a:t>WHY SALESFORCE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3874"/>
                </a:solidFill>
                <a:latin typeface="Calibri"/>
              </a:rPr>
              <a:t>Why Salesforce for conversational AI: context is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LoanSeva by Kotak · WhatsApp Banking on 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023360"/>
                <a:gridCol w="4937760"/>
              </a:tblGrid>
              <a:tr h="5600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91440" marR="91440" marT="36576" marB="36576" anchor="ctr">
                    <a:solidFill>
                      <a:srgbClr val="0038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Bot on a messaging platform</a:t>
                      </a:r>
                    </a:p>
                  </a:txBody>
                  <a:tcPr marL="91440" marR="91440" marT="36576" marB="36576" anchor="ctr">
                    <a:solidFill>
                      <a:srgbClr val="0038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Agentforce on Salesforce</a:t>
                      </a:r>
                    </a:p>
                  </a:txBody>
                  <a:tcPr marL="91440" marR="91440" marT="36576" marB="36576" anchor="ctr">
                    <a:solidFill>
                      <a:srgbClr val="0176D3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3874"/>
                          </a:solidFill>
                          <a:latin typeface="Calibri"/>
                        </a:rPr>
                        <a:t>Customer context</a:t>
                      </a:r>
                    </a:p>
                  </a:txBody>
                  <a:tcPr marL="91440" marR="91440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Phone number plus what the bot is passed through APIs</a:t>
                      </a:r>
                    </a:p>
                  </a:txBody>
                  <a:tcPr marL="91440" marR="91440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Native: contact, existing loans, offers, applications, cases and past chats on one record</a:t>
                      </a:r>
                    </a:p>
                  </a:txBody>
                  <a:tcPr marL="91440" marR="91440" marT="36576" marB="36576" anchor="ctr">
                    <a:solidFill>
                      <a:srgbClr val="E5F1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3874"/>
                          </a:solidFill>
                          <a:latin typeface="Calibri"/>
                        </a:rPr>
                        <a:t>Conversation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Menus and keyword flows; LLM add-ons sit outside bank data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LLM agent grounded in bank data; a deterministic Apex engine keeps the numbers and rules exact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3874"/>
                          </a:solidFill>
                          <a:latin typeface="Calibri"/>
                        </a:rPr>
                        <a:t>Human hand-off</a:t>
                      </a:r>
                    </a:p>
                  </a:txBody>
                  <a:tcPr marL="91440" marR="91440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Separate agent inbox</a:t>
                      </a:r>
                    </a:p>
                  </a:txBody>
                  <a:tcPr marL="91440" marR="91440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Omni-Channel routes to the right RM queue with the full transcript and journey state</a:t>
                      </a:r>
                    </a:p>
                  </a:txBody>
                  <a:tcPr marL="91440" marR="91440" marT="36576" marB="36576" anchor="ctr">
                    <a:solidFill>
                      <a:srgbClr val="E5F1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3874"/>
                          </a:solidFill>
                          <a:latin typeface="Calibri"/>
                        </a:rPr>
                        <a:t>Loan process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Ends in a lead or a webhook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The chat creates the application, runs checks, books the RM callback and sanctions the LAN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3874"/>
                          </a:solidFill>
                          <a:latin typeface="Calibri"/>
                        </a:rPr>
                        <a:t>Languages &amp; voice</a:t>
                      </a:r>
                    </a:p>
                  </a:txBody>
                  <a:tcPr marL="91440" marR="91440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Per-flow translations</a:t>
                      </a:r>
                    </a:p>
                  </a:txBody>
                  <a:tcPr marL="91440" marR="91440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English, Hindi, Marathi and voice notes on the same journey; switch any time</a:t>
                      </a:r>
                    </a:p>
                  </a:txBody>
                  <a:tcPr marL="91440" marR="91440" marT="36576" marB="36576" anchor="ctr">
                    <a:solidFill>
                      <a:srgbClr val="E5F1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3874"/>
                          </a:solidFill>
                          <a:latin typeface="Calibri"/>
                        </a:rPr>
                        <a:t>Trust &amp; governance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Bot vendor plus each integration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Einstein Trust Layer (masking, zero retention), sharing, field security, audit, consent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3874"/>
                          </a:solidFill>
                          <a:latin typeface="Calibri"/>
                        </a:rPr>
                        <a:t>Insight &amp; re-engagement</a:t>
                      </a:r>
                    </a:p>
                  </a:txBody>
                  <a:tcPr marL="91440" marR="91440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Bot analytics only</a:t>
                      </a:r>
                    </a:p>
                  </a:txBody>
                  <a:tcPr marL="91440" marR="91440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Drop-off point on the record; RM task and nudges; Data Cloud segments for next best action</a:t>
                      </a:r>
                    </a:p>
                  </a:txBody>
                  <a:tcPr marL="91440" marR="91440" marT="36576" marB="36576" anchor="ctr">
                    <a:solidFill>
                      <a:srgbClr val="E5F1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D1C24"/>
                </a:solidFill>
                <a:latin typeface="Calibri"/>
              </a:rPr>
              <a:t>Not either/or: Salesforce can run behind Gupshup on the same number, or be the WhatsApp provider itself (native, direct with Meta).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D1C24"/>
                </a:solidFill>
                <a:latin typeface="Calibri"/>
              </a:rPr>
              <a:t>FUTURE-STATE ARCHITECTURE WITH SALESFORCE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3874"/>
                </a:solidFill>
                <a:latin typeface="Calibri"/>
              </a:rPr>
              <a:t>Future state: one platform from "Hi" to sanctioned loan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LoanSeva by Kotak · WhatsApp Banking on 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1F2328"/>
                </a:solidFill>
                <a:latin typeface="Calibri"/>
              </a:rPr>
              <a:t>Customer</a:t>
            </a:r>
          </a:p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WhatsApp: text, voice, photos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93192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1F2328"/>
                </a:solidFill>
                <a:latin typeface="Calibri"/>
              </a:rPr>
              <a:t>QR / SMS / email</a:t>
            </a:r>
          </a:p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Campaign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508760"/>
            <a:ext cx="1600200" cy="3657600"/>
          </a:xfrm>
          <a:prstGeom prst="roundRect">
            <a:avLst>
              <a:gd name="adj" fmla="val 4000"/>
            </a:avLst>
          </a:prstGeom>
          <a:solidFill>
            <a:srgbClr val="FEF3E2"/>
          </a:solidFill>
          <a:ln w="15875">
            <a:solidFill>
              <a:srgbClr val="E09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563624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5B00"/>
                </a:solidFill>
                <a:latin typeface="Calibri"/>
              </a:rPr>
              <a:t>CHANNEL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1874519"/>
            <a:ext cx="1325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1F2328"/>
                </a:solidFill>
                <a:latin typeface="Calibri"/>
              </a:rPr>
              <a:t>WhatsApp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A: via Gupshup (BYOC) · B and end state: Salesforce native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3520440"/>
            <a:ext cx="1325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1F2328"/>
                </a:solidFill>
                <a:latin typeface="Calibri"/>
              </a:rPr>
              <a:t>Experience Cloud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Registration page; consent captured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1508760"/>
            <a:ext cx="5806440" cy="4251960"/>
          </a:xfrm>
          <a:prstGeom prst="roundRect">
            <a:avLst>
              <a:gd name="adj" fmla="val 4000"/>
            </a:avLst>
          </a:prstGeom>
          <a:solidFill>
            <a:srgbClr val="E5F1FB"/>
          </a:solidFill>
          <a:ln w="15875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1563624"/>
            <a:ext cx="5532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176D3"/>
                </a:solidFill>
                <a:latin typeface="Calibri"/>
              </a:rPr>
              <a:t>SALESFORCE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1874519"/>
            <a:ext cx="1737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1F2328"/>
                </a:solidFill>
                <a:latin typeface="Calibri"/>
              </a:rPr>
              <a:t>Service Cloud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Messaging + Omni-Channel routing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874519"/>
            <a:ext cx="1783080" cy="1051560"/>
          </a:xfrm>
          <a:prstGeom prst="roundRect">
            <a:avLst>
              <a:gd name="adj" fmla="val 12000"/>
            </a:avLst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Agentforce agent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Understands intent, language, voice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874519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1F2328"/>
                </a:solidFill>
                <a:latin typeface="Calibri"/>
              </a:rPr>
              <a:t>Journey engine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Apex rules, EMI maths, EN/HI/MR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3108960"/>
            <a:ext cx="1737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1F2328"/>
                </a:solidFill>
                <a:latin typeface="Calibri"/>
              </a:rPr>
              <a:t>RM console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Takeover, callback queue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108960"/>
            <a:ext cx="17830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1F2328"/>
                </a:solidFill>
                <a:latin typeface="Calibri"/>
              </a:rPr>
              <a:t>Loan Origination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Application, underwriting, decision, 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10896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1F2328"/>
                </a:solidFill>
                <a:latin typeface="Calibri"/>
              </a:rPr>
              <a:t>Customer 360</a:t>
            </a:r>
          </a:p>
          <a:p>
            <a:pPr algn="ctr"/>
            <a:r>
              <a:rPr sz="1000">
                <a:solidFill>
                  <a:srgbClr val="5F6368"/>
                </a:solidFill>
                <a:latin typeface="Calibri"/>
              </a:rPr>
              <a:t>Contact, loans, offers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4343400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00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Einstein Trust Layer · sharing &amp; field security · consent · audit trail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983480"/>
            <a:ext cx="5440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328"/>
                </a:solidFill>
                <a:latin typeface="Calibri"/>
              </a:rPr>
              <a:t>Data Cloud (next phase): unified profile, drop-off and intent segments, next best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1508760"/>
            <a:ext cx="1874519" cy="425196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587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563624"/>
            <a:ext cx="160019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6368"/>
                </a:solidFill>
                <a:latin typeface="Calibri"/>
              </a:rPr>
              <a:t>BANK SYSTEMS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1874519"/>
            <a:ext cx="1600200" cy="594360"/>
          </a:xfrm>
          <a:prstGeom prst="roundRect">
            <a:avLst>
              <a:gd name="adj" fmla="val 12000"/>
            </a:avLst>
          </a:prstGeom>
          <a:solidFill>
            <a:srgbClr val="00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MuleSoft APIs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2651760"/>
            <a:ext cx="16002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328"/>
                </a:solidFill>
                <a:latin typeface="Calibri"/>
              </a:rPr>
              <a:t>Core banking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3401568"/>
            <a:ext cx="16002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328"/>
                </a:solidFill>
                <a:latin typeface="Calibri"/>
              </a:rPr>
              <a:t>CIBIL / bureau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4151376"/>
            <a:ext cx="16002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328"/>
                </a:solidFill>
                <a:latin typeface="Calibri"/>
              </a:rPr>
              <a:t>NSDL · Perfios · EPFO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4901184"/>
            <a:ext cx="16002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328"/>
                </a:solidFill>
                <a:latin typeface="Calibri"/>
              </a:rPr>
              <a:t>e-Sign · disbursal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91640" y="2286000"/>
            <a:ext cx="411480" cy="91440"/>
          </a:xfrm>
          <a:prstGeom prst="line">
            <a:avLst/>
          </a:prstGeom>
          <a:ln w="19050">
            <a:solidFill>
              <a:srgbClr val="5F636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691640" y="4251960"/>
            <a:ext cx="411480" cy="13716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429000" y="2395728"/>
            <a:ext cx="594360" cy="210312"/>
          </a:xfrm>
          <a:prstGeom prst="line">
            <a:avLst/>
          </a:prstGeom>
          <a:ln w="19050">
            <a:solidFill>
              <a:srgbClr val="0176D3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429000" y="3657600"/>
            <a:ext cx="594360" cy="594360"/>
          </a:xfrm>
          <a:prstGeom prst="line">
            <a:avLst/>
          </a:prstGeom>
          <a:ln w="19050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60720" y="2395728"/>
            <a:ext cx="137160" cy="0"/>
          </a:xfrm>
          <a:prstGeom prst="line">
            <a:avLst/>
          </a:prstGeom>
          <a:ln w="19050">
            <a:solidFill>
              <a:srgbClr val="0176D3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60" y="2395728"/>
            <a:ext cx="137160" cy="0"/>
          </a:xfrm>
          <a:prstGeom prst="line">
            <a:avLst/>
          </a:prstGeom>
          <a:ln w="19050">
            <a:solidFill>
              <a:srgbClr val="0176D3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464040" y="2167128"/>
            <a:ext cx="594360" cy="1463040"/>
          </a:xfrm>
          <a:prstGeom prst="line">
            <a:avLst/>
          </a:prstGeom>
          <a:ln w="19050">
            <a:solidFill>
              <a:srgbClr val="003874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65760" y="589788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874"/>
                </a:solidFill>
                <a:latin typeface="Calibri"/>
              </a:rPr>
              <a:t>1  Customer says "Hi" or scans the QR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27832" y="589788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874"/>
                </a:solidFill>
                <a:latin typeface="Calibri"/>
              </a:rPr>
              <a:t>2  Agent verifies, prices the offer from the existing loan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9904" y="589788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874"/>
                </a:solidFill>
                <a:latin typeface="Calibri"/>
              </a:rPr>
              <a:t>3  Accept → application, RM callback queue, LAN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1976" y="589788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874"/>
                </a:solidFill>
                <a:latin typeface="Calibri"/>
              </a:rPr>
              <a:t>4  "Agent" → RM gets the chat with full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D1C24"/>
                </a:solidFill>
                <a:latin typeface="Calibri"/>
              </a:rPr>
              <a:t>APPROACH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3874"/>
                </a:solidFill>
                <a:latin typeface="Calibri"/>
              </a:rPr>
              <a:t>Two ways to run WhatsApp, and our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LoanSeva by Kotak · WhatsApp Banking on 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368"/>
                </a:solidFill>
                <a:latin typeface="Calibri"/>
              </a:rPr>
              <a:t>A WhatsApp number connects to one provider at a time, so the choice is one number or two.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4864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ED1C24"/>
                </a:solidFill>
                <a:latin typeface="Calibri"/>
              </a:rPr>
              <a:t>APPROACH A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874"/>
                </a:solidFill>
                <a:latin typeface="Calibri"/>
              </a:rPr>
              <a:t>One number: Gupshup in front, loans on Salesforce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508760" cy="566928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1F2328"/>
                </a:solidFill>
                <a:latin typeface="Calibri"/>
              </a:rPr>
              <a:t>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377440"/>
            <a:ext cx="1508760" cy="566928"/>
          </a:xfrm>
          <a:prstGeom prst="roundRect">
            <a:avLst>
              <a:gd name="adj" fmla="val 12000"/>
            </a:avLst>
          </a:prstGeom>
          <a:solidFill>
            <a:srgbClr val="FEF3E2"/>
          </a:solidFill>
          <a:ln w="12700">
            <a:solidFill>
              <a:srgbClr val="E09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1F2328"/>
                </a:solidFill>
                <a:latin typeface="Calibri"/>
              </a:rPr>
              <a:t>Kotak number
(Gupshup)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2660904"/>
            <a:ext cx="274320" cy="0"/>
          </a:xfrm>
          <a:prstGeom prst="line">
            <a:avLst/>
          </a:prstGeom>
          <a:ln w="19050">
            <a:solidFill>
              <a:srgbClr val="5F636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97680" y="2377440"/>
            <a:ext cx="1508760" cy="566928"/>
          </a:xfrm>
          <a:prstGeom prst="roundRect">
            <a:avLst>
              <a:gd name="adj" fmla="val 12000"/>
            </a:avLst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Salesforce
Agent + LOS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2660904"/>
            <a:ext cx="274320" cy="0"/>
          </a:xfrm>
          <a:prstGeom prst="line">
            <a:avLst/>
          </a:prstGeom>
          <a:ln w="19050">
            <a:solidFill>
              <a:srgbClr val="0176D3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3063240"/>
            <a:ext cx="5120640" cy="1783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E844A"/>
                </a:solidFill>
                <a:latin typeface="Calibri"/>
              </a:rPr>
              <a:t>✓  Same verified Kotak number; nothing changes for customers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E844A"/>
                </a:solidFill>
                <a:latin typeface="Calibri"/>
              </a:rPr>
              <a:t>✓  No number migration; alerts, OTPs and campaigns stay on Gupshup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E844A"/>
                </a:solidFill>
                <a:latin typeface="Calibri"/>
              </a:rPr>
              <a:t>✓  Fastest to go live; this is what the LoanSeva PoC runs (BYOC)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B01018"/>
                </a:solidFill>
                <a:latin typeface="Calibri"/>
              </a:rPr>
              <a:t>✗  Gupshup builds the loan-intent hand-over and hand-back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B01018"/>
                </a:solidFill>
                <a:latin typeface="Calibri"/>
              </a:rPr>
              <a:t>✗  Two vendors in the delivery chain; messaging billed via Gupshup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5120640" cy="4114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874"/>
                </a:solidFill>
                <a:latin typeface="Calibri"/>
              </a:rPr>
              <a:t>Best when: speed to market and one familiar number matter most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00200"/>
            <a:ext cx="54864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ED1C24"/>
                </a:solidFill>
                <a:latin typeface="Calibri"/>
              </a:rPr>
              <a:t>APPROACH B  ·  RECOMMENDED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874"/>
                </a:solidFill>
                <a:latin typeface="Calibri"/>
              </a:rPr>
              <a:t>Two numbers: loans number on Salesforce 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377440"/>
            <a:ext cx="1508760" cy="566928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1F2328"/>
                </a:solidFill>
                <a:latin typeface="Calibri"/>
              </a:rPr>
              <a:t>Customer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2377440"/>
            <a:ext cx="1508760" cy="566928"/>
          </a:xfrm>
          <a:prstGeom prst="roundRect">
            <a:avLst>
              <a:gd name="adj" fmla="val 12000"/>
            </a:avLst>
          </a:prstGeom>
          <a:solidFill>
            <a:srgbClr val="E5F1FB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1F2328"/>
                </a:solidFill>
                <a:latin typeface="Calibri"/>
              </a:rPr>
              <a:t>Kotak Loans no.
(Salesforce)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09560" y="2660904"/>
            <a:ext cx="274320" cy="0"/>
          </a:xfrm>
          <a:prstGeom prst="line">
            <a:avLst/>
          </a:prstGeom>
          <a:ln w="19050">
            <a:solidFill>
              <a:srgbClr val="5F636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66960" y="2377440"/>
            <a:ext cx="1508760" cy="566928"/>
          </a:xfrm>
          <a:prstGeom prst="roundRect">
            <a:avLst>
              <a:gd name="adj" fmla="val 12000"/>
            </a:avLst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Salesforce
Agent + LOS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92640" y="2660904"/>
            <a:ext cx="274320" cy="0"/>
          </a:xfrm>
          <a:prstGeom prst="line">
            <a:avLst/>
          </a:prstGeom>
          <a:ln w="19050">
            <a:solidFill>
              <a:srgbClr val="0176D3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3063240"/>
            <a:ext cx="5120640" cy="1783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E844A"/>
                </a:solidFill>
                <a:latin typeface="Calibri"/>
              </a:rPr>
              <a:t>✓  Fully native: one vendor for channel, AI, CRM and LOS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E844A"/>
                </a:solidFill>
                <a:latin typeface="Calibri"/>
              </a:rPr>
              <a:t>✓  Direct with Meta, no BSP in the loan journey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E844A"/>
                </a:solidFill>
                <a:latin typeface="Calibri"/>
              </a:rPr>
              <a:t>✓  Main number stays on Gupshup, links across with wa.me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B01018"/>
                </a:solidFill>
                <a:latin typeface="Calibri"/>
              </a:rPr>
              <a:t>✗  Two numbers: customers may be unsure which is genuine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B01018"/>
                </a:solidFill>
                <a:latin typeface="Calibri"/>
              </a:rPr>
              <a:t>✗  Second verification and templates; history split across numbers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97680"/>
            <a:ext cx="5120640" cy="411480"/>
          </a:xfrm>
          <a:prstGeom prst="roundRect">
            <a:avLst>
              <a:gd name="adj" fmla="val 12000"/>
            </a:avLst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874"/>
                </a:solidFill>
                <a:latin typeface="Calibri"/>
              </a:rPr>
              <a:t>Best when: Kotak wants a dedicated, fully native loans number now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83480"/>
            <a:ext cx="11155680" cy="1325880"/>
          </a:xfrm>
          <a:prstGeom prst="roundRect">
            <a:avLst>
              <a:gd name="adj" fmla="val 12000"/>
            </a:avLst>
          </a:prstGeom>
          <a:solidFill>
            <a:srgbClr val="00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47488"/>
            <a:ext cx="27432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B3B6"/>
                </a:solidFill>
                <a:latin typeface="Calibri"/>
              </a:rPr>
              <a:t>OUR RECOMMENDATION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Approach B: a native loans number on Salesforce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5120640"/>
            <a:ext cx="2560320" cy="1051560"/>
          </a:xfrm>
          <a:prstGeom prst="roundRect">
            <a:avLst>
              <a:gd name="adj" fmla="val 12000"/>
            </a:avLst>
          </a:prstGeom>
          <a:solidFill>
            <a:srgbClr val="0B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032" y="5148072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 · Native loans number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D6E2F0"/>
                </a:solidFill>
                <a:latin typeface="Calibri"/>
              </a:rPr>
              <a:t>Top-Up on a Kotak Loans number on Salesforce native WhatsApp; Agentforce, LOS, RM callback queue; main Gupshup bot links across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120640"/>
            <a:ext cx="2560320" cy="1051560"/>
          </a:xfrm>
          <a:prstGeom prst="roundRect">
            <a:avLst>
              <a:gd name="adj" fmla="val 12000"/>
            </a:avLst>
          </a:prstGeom>
          <a:solidFill>
            <a:srgbClr val="0B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5148072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 · Scale the journeys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D6E2F0"/>
                </a:solidFill>
                <a:latin typeface="Calibri"/>
              </a:rPr>
              <a:t>New loans with real bureau, KYC, Perfios and e-sign; RM live takeover; Hindi, Marathi and voice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5120640"/>
            <a:ext cx="2560320" cy="1051560"/>
          </a:xfrm>
          <a:prstGeom prst="roundRect">
            <a:avLst>
              <a:gd name="adj" fmla="val 12000"/>
            </a:avLst>
          </a:prstGeom>
          <a:solidFill>
            <a:srgbClr val="0B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5148072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 · One number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D6E2F0"/>
                </a:solidFill>
                <a:latin typeface="Calibri"/>
              </a:rPr>
              <a:t>Move the main number to Salesforce, bring the other use cases across and retire the link; add Data Cloud next best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D1C24"/>
                </a:solidFill>
                <a:latin typeface="Calibri"/>
              </a:rPr>
              <a:t>BUILD EFFORT: CURRENT STATE VS APPROACH 1 VS APPROACH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3874"/>
                </a:solidFill>
                <a:latin typeface="Calibri"/>
              </a:rPr>
              <a:t>What Kotak has to build for conversational AI: Approach 2 is the least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LoanSeva by Kotak · WhatsApp Banking on 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29260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has to exist</a:t>
                      </a:r>
                    </a:p>
                  </a:txBody>
                  <a:tcPr marL="73152" marR="73152" marT="27432" marB="27432" anchor="ctr">
                    <a:solidFill>
                      <a:srgbClr val="00387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Current state: build on Gupshup</a:t>
                      </a:r>
                    </a:p>
                  </a:txBody>
                  <a:tcPr marL="73152" marR="73152" marT="27432" marB="27432" anchor="ctr">
                    <a:solidFill>
                      <a:srgbClr val="00387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Approach 1: Gupshup + Salesforce</a:t>
                      </a:r>
                    </a:p>
                  </a:txBody>
                  <a:tcPr marL="73152" marR="73152" marT="27432" marB="27432" anchor="ctr">
                    <a:solidFill>
                      <a:srgbClr val="00387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Approach 2: Salesforce native  ★</a:t>
                      </a:r>
                    </a:p>
                  </a:txBody>
                  <a:tcPr marL="73152" marR="73152" marT="27432" marB="27432" anchor="ctr">
                    <a:solidFill>
                      <a:srgbClr val="0176D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3874"/>
                          </a:solidFill>
                          <a:latin typeface="Calibri"/>
                        </a:rPr>
                        <a:t>WhatsApp connection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In place (Gupshup)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9A5B00"/>
                          </a:solidFill>
                          <a:latin typeface="Calibri"/>
                        </a:rPr>
                        <a:t>Build BYOC connector: inbound API, outbound events, auth</a:t>
                      </a:r>
                    </a:p>
                  </a:txBody>
                  <a:tcPr marL="73152" marR="73152" marT="27432" marB="27432" anchor="ctr"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Configure: register the number in Setup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3874"/>
                          </a:solidFill>
                          <a:latin typeface="Calibri"/>
                        </a:rPr>
                        <a:t>AI / LLM layer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01018"/>
                          </a:solidFill>
                          <a:latin typeface="Calibri"/>
                        </a:rPr>
                        <a:t>Build LLM integration, prompts, guardrails, hosting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Configure Agentforce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Configure Agentforce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3874"/>
                          </a:solidFill>
                          <a:latin typeface="Calibri"/>
                        </a:rPr>
                        <a:t>Customer context for the 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01018"/>
                          </a:solidFill>
                          <a:latin typeface="Calibri"/>
                        </a:rPr>
                        <a:t>Build APIs from CRM, LOS and core banking into the bot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Native: on the customer record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Native: on the customer record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3874"/>
                          </a:solidFill>
                          <a:latin typeface="Calibri"/>
                        </a:rPr>
                        <a:t>Journey state and LOS link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01018"/>
                          </a:solidFill>
                          <a:latin typeface="Calibri"/>
                        </a:rPr>
                        <a:t>Build a state store and the LOS integration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Native: journey, application, LAN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Native: journey, application, LAN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3874"/>
                          </a:solidFill>
                          <a:latin typeface="Calibri"/>
                        </a:rPr>
                        <a:t>Human hand-off with history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01018"/>
                          </a:solidFill>
                          <a:latin typeface="Calibri"/>
                        </a:rPr>
                        <a:t>Build context transfer to the agent inbox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Out of the box: Omni-Channel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Out of the box: Omni-Channel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3874"/>
                          </a:solidFill>
                          <a:latin typeface="Calibri"/>
                        </a:rPr>
                        <a:t>Routing between bots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Not applicable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9A5B00"/>
                          </a:solidFill>
                          <a:latin typeface="Calibri"/>
                        </a:rPr>
                        <a:t>Build hand-over and hand-back with the Gupshup bot</a:t>
                      </a:r>
                    </a:p>
                  </a:txBody>
                  <a:tcPr marL="73152" marR="73152" marT="27432" marB="27432" anchor="ctr"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Configure a wa.me link from the main bot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3874"/>
                          </a:solidFill>
                          <a:latin typeface="Calibri"/>
                        </a:rPr>
                        <a:t>Trust and governance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01018"/>
                          </a:solidFill>
                          <a:latin typeface="Calibri"/>
                        </a:rPr>
                        <a:t>Build masking, retention and audit per tool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9A5B00"/>
                          </a:solidFill>
                          <a:latin typeface="Calibri"/>
                        </a:rPr>
                        <a:t>Trust Layer + connector security review</a:t>
                      </a:r>
                    </a:p>
                  </a:txBody>
                  <a:tcPr marL="73152" marR="73152" marT="27432" marB="27432" anchor="ctr"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844A"/>
                          </a:solidFill>
                          <a:latin typeface="Calibri"/>
                        </a:rPr>
                        <a:t>Out of the box: Trust Layer</a:t>
                      </a:r>
                    </a:p>
                  </a:txBody>
                  <a:tcPr marL="73152" marR="73152" marT="27432" marB="27432" anchor="ctr">
                    <a:solidFill>
                      <a:srgbClr val="E8F5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5F6368"/>
                          </a:solidFill>
                          <a:latin typeface="Calibri"/>
                        </a:rPr>
                        <a:t>Same in every option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Loan journey design and copy; core banking, bureau, KYC and e-sign integrations (MuleSoft); RM training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 build or integrate</a:t>
                      </a:r>
                    </a:p>
                  </a:txBody>
                  <a:tcPr marL="73152" marR="73152" marT="27432" marB="27432" anchor="ctr">
                    <a:solidFill>
                      <a:srgbClr val="00387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5 builds · 3+ vendors</a:t>
                      </a:r>
                    </a:p>
                  </a:txBody>
                  <a:tcPr marL="73152" marR="73152" marT="27432" marB="27432" anchor="ctr">
                    <a:solidFill>
                      <a:srgbClr val="00387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2 partner builds + security review · 2 vendors</a:t>
                      </a:r>
                    </a:p>
                  </a:txBody>
                  <a:tcPr marL="73152" marR="73152" marT="27432" marB="27432" anchor="ctr">
                    <a:solidFill>
                      <a:srgbClr val="00387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Configure only · 1 vendor for loans</a:t>
                      </a:r>
                    </a:p>
                  </a:txBody>
                  <a:tcPr marL="73152" marR="73152" marT="27432" marB="27432" anchor="ctr">
                    <a:solidFill>
                      <a:srgbClr val="0176D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833872"/>
            <a:ext cx="2057400" cy="29260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B01018"/>
                </a:solidFill>
                <a:latin typeface="Calibri"/>
              </a:rPr>
              <a:t>Kotak builds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833872"/>
            <a:ext cx="2057400" cy="292608"/>
          </a:xfrm>
          <a:prstGeom prst="roundRect">
            <a:avLst>
              <a:gd name="adj" fmla="val 12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9A5B00"/>
                </a:solidFill>
                <a:latin typeface="Calibri"/>
              </a:rPr>
              <a:t>Gupshup / partner builds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5833872"/>
            <a:ext cx="2057400" cy="292608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2E844A"/>
                </a:solidFill>
                <a:latin typeface="Calibri"/>
              </a:rPr>
              <a:t>Configure or out of the 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5742432"/>
            <a:ext cx="4160520" cy="603504"/>
          </a:xfrm>
          <a:prstGeom prst="roundRect">
            <a:avLst>
              <a:gd name="adj" fmla="val 12000"/>
            </a:avLst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Recommendation: Approach 2, least to build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One platform, no connector. Trade-off: a dedicated loans number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D1C24"/>
                </a:solidFill>
                <a:latin typeface="Calibri"/>
              </a:rPr>
              <a:t>DEMO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3874"/>
                </a:solidFill>
                <a:latin typeface="Calibri"/>
              </a:rPr>
              <a:t>Three customers, one WhatsApp chat, all live in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LoanSeva by Kotak · WhatsApp Banking on 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368"/>
                </a:solidFill>
                <a:latin typeface="Calibri"/>
              </a:rPr>
              <a:t>Same agent, same number and same LOS behind all three; the customer never leaves WhatsApp.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611880" cy="470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00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3337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FD6D8"/>
                </a:solidFill>
                <a:latin typeface="Calibri"/>
              </a:rPr>
              <a:t>1 · TOP-UP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Priya Sharma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Existing personal loan · 12/12 EMIs on time · ₹5L pre-approved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33375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5F6368"/>
                </a:solidFill>
                <a:latin typeface="Calibri"/>
              </a:rPr>
              <a:t>ON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16352"/>
            <a:ext cx="33375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1.  Scans a Kotak QR; LoanSeva greets her on WhatsApp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2.  Asks the rate on FAQ; switches to Hindi and back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3.  Name, mobile and OTP; sees her masked loan and track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4.  Five quick answers: job, employer, income, purpose, amount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5.  Offer ₹5L at 10.99%; edits tenure; EMI recalculates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6.  Accepts and picks an RM callback slot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645152"/>
            <a:ext cx="3337560" cy="960120"/>
          </a:xfrm>
          <a:prstGeom prst="roundRect">
            <a:avLst>
              <a:gd name="adj" fmla="val 12000"/>
            </a:avLst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72584"/>
            <a:ext cx="3154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176D3"/>
                </a:solidFill>
                <a:latin typeface="Calibri"/>
              </a:rPr>
              <a:t>IN SALESFORCE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Top-Up application, pre-approved: no fresh underwriting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RM callback queue, Task and Event with the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687568"/>
            <a:ext cx="3337560" cy="475488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E844A"/>
                </a:solidFill>
                <a:latin typeface="Calibri"/>
              </a:rPr>
              <a:t>Reference KMB-PLTU-… · RM calls at the chosen slot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540" y="1600200"/>
            <a:ext cx="3611880" cy="470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540" y="16002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7700" y="1645920"/>
            <a:ext cx="3337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FD6D8"/>
                </a:solidFill>
                <a:latin typeface="Calibri"/>
              </a:rPr>
              <a:t>2 · NEW LOAN + DOCUMENTS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Rahul Deshmukh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Existing Kotak customer · applies for a new personal loan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700" y="2578608"/>
            <a:ext cx="33375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5F6368"/>
                </a:solidFill>
                <a:latin typeface="Calibri"/>
              </a:rPr>
              <a:t>ON WHATSAPP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700" y="2816352"/>
            <a:ext cx="33375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1.  Picks "Apply for a new loan" after the OTP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2.  Details on file are prefilled; only missing ones asked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3.  Existing Kotak EMI is counted automatically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4.  Sees an indicative offer for the amount he asks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5.  Sends photos of PAN, bank statement, salary slips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6.  Reviews, consents and submits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7700" y="4645152"/>
            <a:ext cx="3337560" cy="960120"/>
          </a:xfrm>
          <a:prstGeom prst="roundRect">
            <a:avLst>
              <a:gd name="adj" fmla="val 12000"/>
            </a:avLst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9140" y="4672584"/>
            <a:ext cx="3154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176D3"/>
                </a:solidFill>
                <a:latin typeface="Calibri"/>
              </a:rPr>
              <a:t>IN SALESFORCE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Documents land on the application, no typing needed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Six checks: PAN, CIBIL, Perfios, employment, FOIR, fraud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RM sees the stage gates and credit memo, approves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7700" y="5687568"/>
            <a:ext cx="3337560" cy="475488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E844A"/>
                </a:solidFill>
                <a:latin typeface="Calibri"/>
              </a:rPr>
              <a:t>Loan account created · masked LAN sent on WhatsApp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600200"/>
            <a:ext cx="3611880" cy="470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6002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645920"/>
            <a:ext cx="3337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3 · BY VOICE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Asha Patil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New to Kotak · no pre-approved offer · prefers to speak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578608"/>
            <a:ext cx="33375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5F6368"/>
                </a:solidFill>
                <a:latin typeface="Calibri"/>
              </a:rPr>
              <a:t>ON WHATSAPP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816352"/>
            <a:ext cx="33375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1.  Sends a voice note with her name and mobile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2.  Speaks the OTP, date of birth and PAN letter by letter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3.  Says email, PIN, income and amount in her own words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4.  Each reply starts with "I heard: …" so she can check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5.  Works in English, Hindi or Marathi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328"/>
                </a:solidFill>
                <a:latin typeface="Calibri"/>
              </a:rPr>
              <a:t>6.  Can still type or tap at any step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645152"/>
            <a:ext cx="3337560" cy="960120"/>
          </a:xfrm>
          <a:prstGeom prst="roundRect">
            <a:avLst>
              <a:gd name="adj" fmla="val 12000"/>
            </a:avLst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0">
                <a:solidFill>
                  <a:srgbClr val="1F2328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672584"/>
            <a:ext cx="3154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176D3"/>
                </a:solidFill>
                <a:latin typeface="Calibri"/>
              </a:rPr>
              <a:t>IN SALESFORCE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ElevenLabs speech-to-text on each note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Same journey as typing; PAN masked, OTP never echoed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Application and underwriting as for Rahul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5687568"/>
            <a:ext cx="3337560" cy="475488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E844A"/>
                </a:solidFill>
                <a:latin typeface="Calibri"/>
              </a:rPr>
              <a:t>Full application without typing a word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D1C24"/>
                </a:solidFill>
                <a:latin typeface="Calibri"/>
              </a:rPr>
              <a:t>BACKUP · OPTION 1A (BRING YOUR OWN CHANNEL)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3874"/>
                </a:solidFill>
                <a:latin typeface="Calibri"/>
              </a:rPr>
              <a:t>How a WhatsApp message flows: Gupshup → Salesforce → Gupshup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LoanSeva by Kotak · WhatsApp Banking on 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328"/>
                </a:solidFill>
                <a:latin typeface="Calibri"/>
              </a:rPr>
              <a:t>Customer</a:t>
            </a:r>
          </a:p>
          <a:p>
            <a:pPr algn="ctr"/>
            <a:r>
              <a:rPr sz="800">
                <a:solidFill>
                  <a:srgbClr val="1F2328"/>
                </a:solidFill>
                <a:latin typeface="Calibri"/>
              </a:rPr>
              <a:t>WhatsApp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20140" y="1938528"/>
            <a:ext cx="0" cy="4233672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20240" y="1371600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328"/>
                </a:solidFill>
                <a:latin typeface="Calibri"/>
              </a:rPr>
              <a:t>Meta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Calibri"/>
              </a:rPr>
              <a:t>Cloud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3180" y="1938528"/>
            <a:ext cx="0" cy="4233672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1371600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FEF3E2"/>
          </a:solidFill>
          <a:ln w="12700">
            <a:solidFill>
              <a:srgbClr val="E09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328"/>
                </a:solidFill>
                <a:latin typeface="Calibri"/>
              </a:rPr>
              <a:t>Gupshup</a:t>
            </a:r>
          </a:p>
          <a:p>
            <a:pPr algn="ctr"/>
            <a:r>
              <a:rPr sz="800">
                <a:solidFill>
                  <a:srgbClr val="1F2328"/>
                </a:solidFill>
                <a:latin typeface="Calibri"/>
              </a:rPr>
              <a:t>BSP + BYOC connector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46220" y="1938528"/>
            <a:ext cx="0" cy="4233672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46320" y="1371600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328"/>
                </a:solidFill>
                <a:latin typeface="Calibri"/>
              </a:rPr>
              <a:t>Service Cloud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Calibri"/>
              </a:rPr>
              <a:t>Messaging + Omni-Channel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09260" y="1938528"/>
            <a:ext cx="0" cy="4233672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60" y="1371600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Agentforce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LoanSeva by Kotak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72300" y="1938528"/>
            <a:ext cx="0" cy="4233672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0" y="1371600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328"/>
                </a:solidFill>
                <a:latin typeface="Calibri"/>
              </a:rPr>
              <a:t>LoanSeva engine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Calibri"/>
              </a:rPr>
              <a:t>Apex + LOS records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35340" y="1938528"/>
            <a:ext cx="0" cy="4233672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20140" y="2331720"/>
            <a:ext cx="1463040" cy="0"/>
          </a:xfrm>
          <a:prstGeom prst="line">
            <a:avLst/>
          </a:prstGeom>
          <a:ln w="2222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1540" y="2057400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3874"/>
                </a:solidFill>
                <a:latin typeface="Calibri"/>
              </a:rPr>
              <a:t>① Text, photo or voice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83180" y="2715768"/>
            <a:ext cx="1463040" cy="0"/>
          </a:xfrm>
          <a:prstGeom prst="line">
            <a:avLst/>
          </a:prstGeom>
          <a:ln w="2222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54580" y="2441448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3874"/>
                </a:solidFill>
                <a:latin typeface="Calibri"/>
              </a:rPr>
              <a:t>② Webhook to the BSP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46220" y="3099816"/>
            <a:ext cx="1463040" cy="0"/>
          </a:xfrm>
          <a:prstGeom prst="line">
            <a:avLst/>
          </a:prstGeom>
          <a:ln w="22225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17620" y="2825496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3874"/>
                </a:solidFill>
                <a:latin typeface="Calibri"/>
              </a:rPr>
              <a:t>③ Interaction API (OAuth)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09260" y="3483864"/>
            <a:ext cx="1463040" cy="0"/>
          </a:xfrm>
          <a:prstGeom prst="line">
            <a:avLst/>
          </a:prstGeom>
          <a:ln w="22225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80660" y="3209544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3874"/>
                </a:solidFill>
                <a:latin typeface="Calibri"/>
              </a:rPr>
              <a:t>④ Omni-Flow routes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72300" y="3867912"/>
            <a:ext cx="1463040" cy="0"/>
          </a:xfrm>
          <a:prstGeom prst="line">
            <a:avLst/>
          </a:prstGeom>
          <a:ln w="22225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43700" y="3593592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3874"/>
                </a:solidFill>
                <a:latin typeface="Calibri"/>
              </a:rPr>
              <a:t>⑤ LoanSevaReplyAction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972300" y="4251960"/>
            <a:ext cx="1463040" cy="0"/>
          </a:xfrm>
          <a:prstGeom prst="line">
            <a:avLst/>
          </a:prstGeom>
          <a:ln w="22225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43700" y="3977640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3874"/>
                </a:solidFill>
                <a:latin typeface="Calibri"/>
              </a:rPr>
              <a:t>⑥ Reply + next step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509260" y="4636008"/>
            <a:ext cx="1463040" cy="0"/>
          </a:xfrm>
          <a:prstGeom prst="line">
            <a:avLst/>
          </a:prstGeom>
          <a:ln w="22225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0660" y="4361688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3874"/>
                </a:solidFill>
                <a:latin typeface="Calibri"/>
              </a:rPr>
              <a:t>⑦ Reply on session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046220" y="5020056"/>
            <a:ext cx="1463040" cy="0"/>
          </a:xfrm>
          <a:prstGeom prst="line">
            <a:avLst/>
          </a:prstGeom>
          <a:ln w="22225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817620" y="4745736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3874"/>
                </a:solidFill>
                <a:latin typeface="Calibri"/>
              </a:rPr>
              <a:t>⑧ Platform event (Pub/Sub)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2583180" y="5404104"/>
            <a:ext cx="1463040" cy="0"/>
          </a:xfrm>
          <a:prstGeom prst="line">
            <a:avLst/>
          </a:prstGeom>
          <a:ln w="22225">
            <a:solidFill>
              <a:srgbClr val="ED1C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354580" y="5129784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3874"/>
                </a:solidFill>
                <a:latin typeface="Calibri"/>
              </a:rPr>
              <a:t>⑨ Gupshup send API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120140" y="5788152"/>
            <a:ext cx="1463040" cy="0"/>
          </a:xfrm>
          <a:prstGeom prst="line">
            <a:avLst/>
          </a:prstGeom>
          <a:ln w="22225">
            <a:solidFill>
              <a:srgbClr val="ED1C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91540" y="5513832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3874"/>
                </a:solidFill>
                <a:latin typeface="Calibri"/>
              </a:rPr>
              <a:t>⑩ Delivered on WhatsApp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172200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Calibri"/>
              </a:rPr>
              <a:t>Steps ①–⑤ inbound, ⑥–⑩ outbound. In the PoC a package flow on the platform event calls the demo router instead of Gupshup.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26880" y="1371600"/>
            <a:ext cx="2423160" cy="4800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587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1426464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6368"/>
                </a:solidFill>
                <a:latin typeface="Calibri"/>
              </a:rPr>
              <a:t>SAME PATH, OTHER CASES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1737360"/>
            <a:ext cx="224028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874"/>
                </a:solidFill>
                <a:latin typeface="Calibri"/>
              </a:rPr>
              <a:t>Proactive messages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Nudges and "LAN sanctioned" go out via sendConversationMessages → steps ⑧–⑩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874"/>
                </a:solidFill>
                <a:latin typeface="Calibri"/>
              </a:rPr>
              <a:t>Human hand-off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Agent escalates → Omni-Channel → RM queue; RM replies in the console → steps ⑧–⑩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874"/>
                </a:solidFill>
                <a:latin typeface="Calibri"/>
              </a:rPr>
              <a:t>Hand back to Gupshup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When the Messaging Session ends, Gupshup resumes its own bot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874"/>
                </a:solidFill>
                <a:latin typeface="Calibri"/>
              </a:rPr>
              <a:t>Option 1b instead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Gupshup calls the Agent API directly: no session, no Omni-Channel, Gupshup sends the reply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874"/>
                </a:solidFill>
                <a:latin typeface="Calibri"/>
              </a:rPr>
              <a:t>One call per message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Each customer message is one inbound API call into the same session; a 15-message chat is 15 calls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D1C24"/>
                </a:solidFill>
                <a:latin typeface="Calibri"/>
              </a:rPr>
              <a:t>BACKUP · OPTION 2 AND END STATE (SALESFORCE NATIVE WHATSAPP)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3874"/>
                </a:solidFill>
                <a:latin typeface="Calibri"/>
              </a:rPr>
              <a:t>How a WhatsApp message flows with Salesforce as the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LoanSeva by Kotak · WhatsApp Banking on 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328"/>
                </a:solidFill>
                <a:latin typeface="Calibri"/>
              </a:rPr>
              <a:t>Customer</a:t>
            </a:r>
          </a:p>
          <a:p>
            <a:pPr algn="ctr"/>
            <a:r>
              <a:rPr sz="800">
                <a:solidFill>
                  <a:srgbClr val="1F2328"/>
                </a:solidFill>
                <a:latin typeface="Calibri"/>
              </a:rPr>
              <a:t>WhatsApp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1938528"/>
            <a:ext cx="0" cy="4005072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40280" y="137160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328"/>
                </a:solidFill>
                <a:latin typeface="Calibri"/>
              </a:rPr>
              <a:t>Meta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Calibri"/>
              </a:rPr>
              <a:t>Cloud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1938528"/>
            <a:ext cx="0" cy="4005072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23360" y="137160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328"/>
                </a:solidFill>
                <a:latin typeface="Calibri"/>
              </a:rPr>
              <a:t>Service Cloud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Calibri"/>
              </a:rPr>
              <a:t>WhatsApp + Omni-Channel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1938528"/>
            <a:ext cx="0" cy="4005072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06440" y="137160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Agentforce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LoanSeva by Kotak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0" y="1938528"/>
            <a:ext cx="0" cy="4005072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20" y="137160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328"/>
                </a:solidFill>
                <a:latin typeface="Calibri"/>
              </a:rPr>
              <a:t>LoanSeva engine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Calibri"/>
              </a:rPr>
              <a:t>Apex + LOS records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66760" y="1938528"/>
            <a:ext cx="0" cy="4005072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950208" y="1298448"/>
            <a:ext cx="5257800" cy="4709160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0176D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6035040"/>
            <a:ext cx="5349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176D3"/>
                </a:solidFill>
                <a:latin typeface="Calibri"/>
              </a:rPr>
              <a:t>Everything inside the dashed box is Salesforce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34440" y="2377440"/>
            <a:ext cx="1783080" cy="0"/>
          </a:xfrm>
          <a:prstGeom prst="line">
            <a:avLst/>
          </a:prstGeom>
          <a:ln w="2222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8388" y="2084832"/>
            <a:ext cx="2615184" cy="237744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3874"/>
                </a:solidFill>
                <a:latin typeface="Calibri"/>
              </a:rPr>
              <a:t>① Text, photo or voice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17520" y="2834640"/>
            <a:ext cx="1783080" cy="0"/>
          </a:xfrm>
          <a:prstGeom prst="line">
            <a:avLst/>
          </a:prstGeom>
          <a:ln w="2222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44852" y="2542032"/>
            <a:ext cx="3328416" cy="237744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3874"/>
                </a:solidFill>
                <a:latin typeface="Calibri"/>
              </a:rPr>
              <a:t>② Meta webhook to Salesforce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00600" y="3291840"/>
            <a:ext cx="1783080" cy="0"/>
          </a:xfrm>
          <a:prstGeom prst="line">
            <a:avLst/>
          </a:prstGeom>
          <a:ln w="22225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22292" y="2999232"/>
            <a:ext cx="2139696" cy="237744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3874"/>
                </a:solidFill>
                <a:latin typeface="Calibri"/>
              </a:rPr>
              <a:t>③ Omni-Flow routes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0" y="3749040"/>
            <a:ext cx="1783080" cy="0"/>
          </a:xfrm>
          <a:prstGeom prst="line">
            <a:avLst/>
          </a:prstGeom>
          <a:ln w="22225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27064" y="3456432"/>
            <a:ext cx="2496312" cy="237744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3874"/>
                </a:solidFill>
                <a:latin typeface="Calibri"/>
              </a:rPr>
              <a:t>④ LoanSevaReplyAction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583680" y="4206240"/>
            <a:ext cx="1783080" cy="0"/>
          </a:xfrm>
          <a:prstGeom prst="line">
            <a:avLst/>
          </a:prstGeom>
          <a:ln w="22225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45936" y="3913632"/>
            <a:ext cx="2258568" cy="237744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3874"/>
                </a:solidFill>
                <a:latin typeface="Calibri"/>
              </a:rPr>
              <a:t>⑤ Reply + next step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800600" y="4663440"/>
            <a:ext cx="1783080" cy="0"/>
          </a:xfrm>
          <a:prstGeom prst="line">
            <a:avLst/>
          </a:prstGeom>
          <a:ln w="22225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22292" y="4370832"/>
            <a:ext cx="2139696" cy="237744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3874"/>
                </a:solidFill>
                <a:latin typeface="Calibri"/>
              </a:rPr>
              <a:t>⑥ Reply on session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017520" y="5120640"/>
            <a:ext cx="1783080" cy="0"/>
          </a:xfrm>
          <a:prstGeom prst="line">
            <a:avLst/>
          </a:prstGeom>
          <a:ln w="22225">
            <a:solidFill>
              <a:srgbClr val="ED1C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63724" y="4828032"/>
            <a:ext cx="3090672" cy="237744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3874"/>
                </a:solidFill>
                <a:latin typeface="Calibri"/>
              </a:rPr>
              <a:t>⑦ Salesforce sends to Meta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234440" y="5577840"/>
            <a:ext cx="1783080" cy="0"/>
          </a:xfrm>
          <a:prstGeom prst="line">
            <a:avLst/>
          </a:prstGeom>
          <a:ln w="22225">
            <a:solidFill>
              <a:srgbClr val="ED1C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8952" y="5285232"/>
            <a:ext cx="2734056" cy="237744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3874"/>
                </a:solidFill>
                <a:latin typeface="Calibri"/>
              </a:rPr>
              <a:t>⑧ Delivered on WhatsApp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1371600"/>
            <a:ext cx="2240280" cy="2514600"/>
          </a:xfrm>
          <a:prstGeom prst="roundRect">
            <a:avLst>
              <a:gd name="adj" fmla="val 4000"/>
            </a:avLst>
          </a:prstGeom>
          <a:solidFill>
            <a:srgbClr val="E5F1FB"/>
          </a:solidFill>
          <a:ln w="15875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1426464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176D3"/>
                </a:solidFill>
                <a:latin typeface="Calibri"/>
              </a:rPr>
              <a:t>VS OPTION 1A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1719072"/>
            <a:ext cx="2103120" cy="2148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No BSP and no connector: two fewer hops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No inbound API calls into the org and no outbound platform events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Number registered with Meta from Salesforce Setup; templates managed in Salesforce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Usage via Salesforce messaging packs plus Meta's fees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60" y="4023360"/>
            <a:ext cx="2240280" cy="21488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587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4078224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6368"/>
                </a:solidFill>
                <a:latin typeface="Calibri"/>
              </a:rPr>
              <a:t>SAME AS OPTION 1A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370832"/>
            <a:ext cx="2103120" cy="1783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Agentforce and the engine run once per customer message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RM hand-off via Omni-Channel in the console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Nudges via sendConversationMessages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328"/>
                </a:solidFill>
                <a:latin typeface="Calibri"/>
              </a:rPr>
              <a:t>•  Meta's messaging tiers and throughput limits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